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983480"/>
            <a:ext cx="9875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Image-Based 3D Reconstruction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55321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BD5E1"/>
                </a:solidFill>
              </a:defRPr>
            </a:pPr>
            <a:r>
              <a:t>Prepared for project presentation and live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B26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371"/>
                </a:solidFill>
              </a:defRPr>
            </a:pPr>
            <a:r>
              <a:t>Turning ordinary phone images into usable 3D assets is still technically demanding.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1B26"/>
                </a:solidFill>
              </a:defRPr>
            </a:pPr>
            <a:r>
              <a:t>Manual photogrammetry workflows require many separate tools and careful file handling.</a:t>
            </a:r>
          </a:p>
          <a:p>
            <a:pPr>
              <a:spcAft>
                <a:spcPts val="800"/>
              </a:spcAft>
              <a:defRPr sz="1800">
                <a:solidFill>
                  <a:srgbClr val="141B26"/>
                </a:solidFill>
              </a:defRPr>
            </a:pPr>
            <a:r>
              <a:t>Students and prototype teams need a visible end-to-end reconstruction workflow.</a:t>
            </a:r>
          </a:p>
          <a:p>
            <a:pPr>
              <a:spcAft>
                <a:spcPts val="800"/>
              </a:spcAft>
              <a:defRPr sz="1800">
                <a:solidFill>
                  <a:srgbClr val="141B26"/>
                </a:solidFill>
              </a:defRPr>
            </a:pPr>
            <a:r>
              <a:t>Real captures contain blur, weak texture, changing exposure, reflective surfaces, and incomplete overlap.</a:t>
            </a:r>
          </a:p>
          <a:p>
            <a:pPr>
              <a:spcAft>
                <a:spcPts val="800"/>
              </a:spcAft>
              <a:defRPr sz="1800">
                <a:solidFill>
                  <a:srgbClr val="141B26"/>
                </a:solidFill>
              </a:defRPr>
            </a:pPr>
            <a:r>
              <a:t>The project aims to make the reconstruction stages inspectable, explainable, and exportable.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903720" y="1691640"/>
            <a:ext cx="4297680" cy="182880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600">
                <a:solidFill>
                  <a:srgbClr val="141B26"/>
                </a:solidFill>
              </a:defRPr>
            </a:pPr>
            <a:r>
              <a:t>Core Idea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A Streamlit dashboard that organizes image ingestion, frame selection, depth estimation, pose recovery, dense fusion, cleanup, meshing, and export.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903720" y="3703320"/>
            <a:ext cx="4297680" cy="160020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600">
                <a:solidFill>
                  <a:srgbClr val="141B26"/>
                </a:solidFill>
              </a:defRPr>
            </a:pPr>
            <a:r>
              <a:t>Presentation Focus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Show that the pipeline can reconstruct recognizable real objects and explain where limitations come from.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B26"/>
                </a:solidFill>
              </a:defRPr>
            </a:pPr>
            <a: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08760"/>
            <a:ext cx="3246120" cy="132588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600">
                <a:solidFill>
                  <a:srgbClr val="141B26"/>
                </a:solidFill>
              </a:defRPr>
            </a:pPr>
            <a:r>
              <a:t>Ingest Images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Accept real smartphone image sequences and stage them for processing.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4434840" y="1508760"/>
            <a:ext cx="3246120" cy="132588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600">
                <a:solidFill>
                  <a:srgbClr val="141B26"/>
                </a:solidFill>
              </a:defRPr>
            </a:pPr>
            <a:r>
              <a:t>Select Keyframes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Keep sharp and diverse frames so reconstruction uses stronger visual evidence.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1508760"/>
            <a:ext cx="3246120" cy="132588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600">
                <a:solidFill>
                  <a:srgbClr val="141B26"/>
                </a:solidFill>
              </a:defRPr>
            </a:pPr>
            <a:r>
              <a:t>Recover Geometry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Estimate depth, camera poses, sparse points, dense clouds, and meshes.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474720"/>
            <a:ext cx="3246120" cy="132588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600">
                <a:solidFill>
                  <a:srgbClr val="141B26"/>
                </a:solidFill>
              </a:defRPr>
            </a:pPr>
            <a:r>
              <a:t>Evaluate Outputs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Inspect point clouds, meshes, metrics, and export-ready files.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3474720"/>
            <a:ext cx="3246120" cy="132588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600">
                <a:solidFill>
                  <a:srgbClr val="141B26"/>
                </a:solidFill>
              </a:defRPr>
            </a:pPr>
            <a:r>
              <a:t>Support Baselines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Use synthetic scenes and research datasets for controlled comparisons.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3474720"/>
            <a:ext cx="3246120" cy="132588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600">
                <a:solidFill>
                  <a:srgbClr val="141B26"/>
                </a:solidFill>
              </a:defRPr>
            </a:pPr>
            <a:r>
              <a:t>Explain Results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Make every stage understandable during demonstration and assessment.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B26"/>
                </a:solidFill>
              </a:defRPr>
            </a:pPr>
            <a:r>
              <a:t>System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371"/>
                </a:solidFill>
              </a:defRPr>
            </a:pPr>
            <a:r>
              <a:t>Each output in the dashboard corresponds to one stage in this flow.</a:t>
            </a:r>
          </a:p>
        </p:txBody>
      </p:sp>
      <p:pic>
        <p:nvPicPr>
          <p:cNvPr id="4" name="Picture 3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11155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B26"/>
                </a:solidFill>
              </a:defRPr>
            </a:pPr>
            <a:r>
              <a:t>Implementation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5303520" cy="123444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600">
                <a:solidFill>
                  <a:srgbClr val="141B26"/>
                </a:solidFill>
              </a:defRPr>
            </a:pPr>
            <a:r>
              <a:t>Dashboard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Streamlit interface for uploads, live status, previews, output inspection, and synthetic baselines.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834640"/>
            <a:ext cx="5303520" cy="123444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600">
                <a:solidFill>
                  <a:srgbClr val="141B26"/>
                </a:solidFill>
              </a:defRPr>
            </a:pPr>
            <a:r>
              <a:t>Computer Vision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OpenCV ORB features, matching, essential matrix pose recovery, sharpness scoring, and image preprocessing.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251960"/>
            <a:ext cx="5303520" cy="123444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600">
                <a:solidFill>
                  <a:srgbClr val="141B26"/>
                </a:solidFill>
              </a:defRPr>
            </a:pPr>
            <a:r>
              <a:t>Depth and 3D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Depth Anything V2, NumPy, Open3D point clouds, DBSCAN cleanup, Poisson surface reconstruction.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417320"/>
            <a:ext cx="4663440" cy="123444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600">
                <a:solidFill>
                  <a:srgbClr val="141B26"/>
                </a:solidFill>
              </a:defRPr>
            </a:pPr>
            <a:r>
              <a:t>Exports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PLY and OBJ assets for inspection in the dashboard, MeshLab, CloudCompare, Blender, or Gaussian Splatting workflows.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834640"/>
            <a:ext cx="4663440" cy="178308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600">
                <a:solidFill>
                  <a:srgbClr val="141B26"/>
                </a:solidFill>
              </a:defRPr>
            </a:pPr>
            <a:r>
              <a:t>Recent Improvements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Lobby keyframes increased to 60; object fusion made more permissive for thin/planar captures; synthetic car import path added.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B26"/>
                </a:solidFill>
              </a:defRPr>
            </a:pPr>
            <a:r>
              <a:t>What The Output Types Mean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5074920" cy="987552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600">
                <a:solidFill>
                  <a:srgbClr val="141B26"/>
                </a:solidFill>
              </a:defRPr>
            </a:pPr>
            <a:r>
              <a:t>Sparse cloud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Feature matches used to estimate camera alignment.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63640" y="1234440"/>
            <a:ext cx="5074920" cy="987552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600">
                <a:solidFill>
                  <a:srgbClr val="141B26"/>
                </a:solidFill>
              </a:defRPr>
            </a:pPr>
            <a:r>
              <a:t>Pose-aligned dense cloud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Main colored point cloud from depth maps and camera poses.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743200"/>
            <a:ext cx="5074920" cy="987552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600">
                <a:solidFill>
                  <a:srgbClr val="141B26"/>
                </a:solidFill>
              </a:defRPr>
            </a:pPr>
            <a:r>
              <a:t>Legacy dense cloud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Older/fallback dense output kept for comparison.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2743200"/>
            <a:ext cx="5074920" cy="987552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600">
                <a:solidFill>
                  <a:srgbClr val="141B26"/>
                </a:solidFill>
              </a:defRPr>
            </a:pPr>
            <a:r>
              <a:t>Cleaned dense cloud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Noise-reduced cloud used before meshing.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251960"/>
            <a:ext cx="5074920" cy="987552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600">
                <a:solidFill>
                  <a:srgbClr val="141B26"/>
                </a:solidFill>
              </a:defRPr>
            </a:pPr>
            <a:r>
              <a:t>Poisson mesh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Continuous surface generated from the cleaned point cloud.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4251960"/>
            <a:ext cx="5074920" cy="987552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600">
                <a:solidFill>
                  <a:srgbClr val="141B26"/>
                </a:solidFill>
              </a:defRPr>
            </a:pPr>
            <a:r>
              <a:t>OBJ mesh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Portable mesh format for external 3D software.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B26"/>
                </a:solidFill>
              </a:defRPr>
            </a:pPr>
            <a:r>
              <a:t>Best Real Reconstruction: Desk Arrangement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371"/>
                </a:solidFill>
              </a:defRPr>
            </a:pPr>
            <a:r>
              <a:t>The strongest current output is recognizable as a physical workstation scene.</a:t>
            </a:r>
          </a:p>
        </p:txBody>
      </p:sp>
      <p:pic>
        <p:nvPicPr>
          <p:cNvPr id="4" name="Picture 3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212080" cy="4251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50876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41B26"/>
                </a:solidFill>
              </a:defRPr>
            </a:pPr>
            <a:r>
              <a:t>Recognizable elements: desk/table surface, laptop/screens, cups, and surrounding objects.</a:t>
            </a:r>
          </a:p>
          <a:p>
            <a:pPr>
              <a:spcAft>
                <a:spcPts val="800"/>
              </a:spcAft>
              <a:defRPr sz="1700">
                <a:solidFill>
                  <a:srgbClr val="141B26"/>
                </a:solidFill>
              </a:defRPr>
            </a:pPr>
            <a:r>
              <a:t>Point cloud and mesh outputs show that the pipeline is reconstructing real object geometry.</a:t>
            </a:r>
          </a:p>
          <a:p>
            <a:pPr>
              <a:spcAft>
                <a:spcPts val="800"/>
              </a:spcAft>
              <a:defRPr sz="1700">
                <a:solidFill>
                  <a:srgbClr val="141B26"/>
                </a:solidFill>
              </a:defRPr>
            </a:pPr>
            <a:r>
              <a:t>Remaining gaps and stretched areas are expected from monocular depth, reflective surfaces, and pose noise.</a:t>
            </a:r>
          </a:p>
          <a:p>
            <a:pPr>
              <a:spcAft>
                <a:spcPts val="800"/>
              </a:spcAft>
              <a:defRPr sz="1700">
                <a:solidFill>
                  <a:srgbClr val="141B26"/>
                </a:solidFill>
              </a:defRPr>
            </a:pPr>
            <a:r>
              <a:t>This is the best demonstration artifact for the live presentation.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B26"/>
                </a:solidFill>
              </a:defRPr>
            </a:pPr>
            <a:r>
              <a:t>Synthetic Baselines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371"/>
                </a:solidFill>
              </a:defRPr>
            </a:pPr>
            <a:r>
              <a:t>Synthetic scenes help explain controlled geometry versus real capture uncertainty.</a:t>
            </a:r>
          </a:p>
        </p:txBody>
      </p:sp>
      <p:pic>
        <p:nvPicPr>
          <p:cNvPr id="4" name="Picture 3" descr="indoor_room_dense_saturated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5166360" cy="4023360"/>
          </a:xfrm>
          <a:prstGeom prst="rect">
            <a:avLst/>
          </a:prstGeom>
        </p:spPr>
      </p:pic>
      <p:pic>
        <p:nvPicPr>
          <p:cNvPr id="5" name="Picture 4" descr="car_scene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80160"/>
            <a:ext cx="516636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97280" y="5532120"/>
            <a:ext cx="9966960" cy="68580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600">
                <a:solidFill>
                  <a:srgbClr val="141B26"/>
                </a:solidFill>
              </a:defRPr>
            </a:pPr>
            <a:r>
              <a:t>Note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The current car preview is a procedural fallback. The importer is ready to replace it with 3DRealCar once a scanned car model is extracted.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B26"/>
                </a:solidFill>
              </a:defRPr>
            </a:pPr>
            <a:r>
              <a:t>Limitations And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6583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1B26"/>
                </a:solidFill>
              </a:defRPr>
            </a:pPr>
            <a:r>
              <a:t>Textureless walls, glossy screens, shadows, and repeated patterns can reduce pose accuracy.</a:t>
            </a:r>
          </a:p>
          <a:p>
            <a:pPr>
              <a:spcAft>
                <a:spcPts val="800"/>
              </a:spcAft>
              <a:defRPr sz="1800">
                <a:solidFill>
                  <a:srgbClr val="141B26"/>
                </a:solidFill>
              </a:defRPr>
            </a:pPr>
            <a:r>
              <a:t>Monocular depth provides relative depth, so scale and alignment can drift.</a:t>
            </a:r>
          </a:p>
          <a:p>
            <a:pPr>
              <a:spcAft>
                <a:spcPts val="800"/>
              </a:spcAft>
              <a:defRPr sz="1800">
                <a:solidFill>
                  <a:srgbClr val="141B26"/>
                </a:solidFill>
              </a:defRPr>
            </a:pPr>
            <a:r>
              <a:t>Thin planar objects may need permissive fusion settings to avoid over-filtering.</a:t>
            </a:r>
          </a:p>
          <a:p>
            <a:pPr>
              <a:spcAft>
                <a:spcPts val="800"/>
              </a:spcAft>
              <a:defRPr sz="1800">
                <a:solidFill>
                  <a:srgbClr val="141B26"/>
                </a:solidFill>
              </a:defRPr>
            </a:pPr>
            <a:r>
              <a:t>Poisson meshing can fill gaps or stretch surfaces where the point cloud is incomplete.</a:t>
            </a:r>
          </a:p>
          <a:p>
            <a:pPr>
              <a:spcAft>
                <a:spcPts val="800"/>
              </a:spcAft>
              <a:defRPr sz="1800">
                <a:solidFill>
                  <a:srgbClr val="141B26"/>
                </a:solidFill>
              </a:defRPr>
            </a:pPr>
            <a:r>
              <a:t>Synthetic colors are generated/material colors unless they come from a real scan or texture dataset.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26679" y="1828800"/>
            <a:ext cx="3566160" cy="228600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600">
                <a:solidFill>
                  <a:srgbClr val="141B26"/>
                </a:solidFill>
              </a:defRPr>
            </a:pPr>
            <a:r>
              <a:t>How We Addressed This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Increased keyframes for room captures, loosened object fusion, preserved thin structures, and added a dataset-backed car import path.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B26"/>
                </a:solidFill>
              </a:defRPr>
            </a:pPr>
            <a:r>
              <a:t>Evaluation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3246120" cy="123444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600">
                <a:solidFill>
                  <a:srgbClr val="141B26"/>
                </a:solidFill>
              </a:defRPr>
            </a:pPr>
            <a:r>
              <a:t>Visual Quality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Can the viewer recognize the object/scene arrangement?</a:t>
            </a:r>
          </a:p>
        </p:txBody>
      </p:sp>
      <p:sp>
        <p:nvSpPr>
          <p:cNvPr id="4" name="Rectangle 3"/>
          <p:cNvSpPr/>
          <p:nvPr/>
        </p:nvSpPr>
        <p:spPr>
          <a:xfrm>
            <a:off x="4480560" y="1371600"/>
            <a:ext cx="3246120" cy="123444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600">
                <a:solidFill>
                  <a:srgbClr val="141B26"/>
                </a:solidFill>
              </a:defRPr>
            </a:pPr>
            <a:r>
              <a:t>Point Count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Are enough points produced after fusion and cleanup?</a:t>
            </a:r>
          </a:p>
        </p:txBody>
      </p:sp>
      <p:sp>
        <p:nvSpPr>
          <p:cNvPr id="5" name="Rectangle 4"/>
          <p:cNvSpPr/>
          <p:nvPr/>
        </p:nvSpPr>
        <p:spPr>
          <a:xfrm>
            <a:off x="8275320" y="1371600"/>
            <a:ext cx="3246120" cy="123444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600">
                <a:solidFill>
                  <a:srgbClr val="141B26"/>
                </a:solidFill>
              </a:defRPr>
            </a:pPr>
            <a:r>
              <a:t>Stage Completion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Did depth, SfM, fusion, cleanup, mesh, and export stages complete?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291840"/>
            <a:ext cx="3246120" cy="123444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600">
                <a:solidFill>
                  <a:srgbClr val="141B26"/>
                </a:solidFill>
              </a:defRPr>
            </a:pPr>
            <a:r>
              <a:t>Export Readiness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Can PLY/OBJ outputs be opened in external 3D tools?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3291840"/>
            <a:ext cx="3246120" cy="123444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600">
                <a:solidFill>
                  <a:srgbClr val="141B26"/>
                </a:solidFill>
              </a:defRPr>
            </a:pPr>
            <a:r>
              <a:t>Failure Analysis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Do artifacts align with known capture or algorithm limitations?</a:t>
            </a:r>
          </a:p>
        </p:txBody>
      </p:sp>
      <p:sp>
        <p:nvSpPr>
          <p:cNvPr id="8" name="Rectangle 7"/>
          <p:cNvSpPr/>
          <p:nvPr/>
        </p:nvSpPr>
        <p:spPr>
          <a:xfrm>
            <a:off x="8275320" y="3291840"/>
            <a:ext cx="3246120" cy="123444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600">
                <a:solidFill>
                  <a:srgbClr val="141B26"/>
                </a:solidFill>
              </a:defRPr>
            </a:pPr>
            <a:r>
              <a:t>Baseline Comparison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Compare real reconstructions with synthetic controlled scenes.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B26"/>
                </a:solidFill>
              </a:defRPr>
            </a:pPr>
            <a:r>
              <a:t>Live 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34440"/>
            <a:ext cx="10058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41B26"/>
                </a:solidFill>
              </a:defRPr>
            </a:pPr>
            <a:r>
              <a:t>1. Open dashboard and show dataset ingestion.</a:t>
            </a:r>
          </a:p>
          <a:p>
            <a:pPr>
              <a:spcAft>
                <a:spcPts val="800"/>
              </a:spcAft>
              <a:defRPr sz="2000">
                <a:solidFill>
                  <a:srgbClr val="141B26"/>
                </a:solidFill>
              </a:defRPr>
            </a:pPr>
            <a:r>
              <a:t>2. Show raw image inventory and preview dropdown.</a:t>
            </a:r>
          </a:p>
          <a:p>
            <a:pPr>
              <a:spcAft>
                <a:spcPts val="800"/>
              </a:spcAft>
              <a:defRPr sz="2000">
                <a:solidFill>
                  <a:srgbClr val="141B26"/>
                </a:solidFill>
              </a:defRPr>
            </a:pPr>
            <a:r>
              <a:t>3. Show keyframe selection and depth preview outputs.</a:t>
            </a:r>
          </a:p>
          <a:p>
            <a:pPr>
              <a:spcAft>
                <a:spcPts val="800"/>
              </a:spcAft>
              <a:defRPr sz="2000">
                <a:solidFill>
                  <a:srgbClr val="141B26"/>
                </a:solidFill>
              </a:defRPr>
            </a:pPr>
            <a:r>
              <a:t>4. Open 3D viewer and compare sparse cloud, dense cloud, cleaned cloud, and mesh.</a:t>
            </a:r>
          </a:p>
          <a:p>
            <a:pPr>
              <a:spcAft>
                <a:spcPts val="800"/>
              </a:spcAft>
              <a:defRPr sz="2000">
                <a:solidFill>
                  <a:srgbClr val="141B26"/>
                </a:solidFill>
              </a:defRPr>
            </a:pPr>
            <a:r>
              <a:t>5. Explain the desk reconstruction as the best real output.</a:t>
            </a:r>
          </a:p>
          <a:p>
            <a:pPr>
              <a:spcAft>
                <a:spcPts val="800"/>
              </a:spcAft>
              <a:defRPr sz="2000">
                <a:solidFill>
                  <a:srgbClr val="141B26"/>
                </a:solidFill>
              </a:defRPr>
            </a:pPr>
            <a:r>
              <a:t>6. Open synthetic baselines and mention 3DRealCar integration path.</a:t>
            </a:r>
          </a:p>
          <a:p>
            <a:pPr>
              <a:spcAft>
                <a:spcPts val="800"/>
              </a:spcAft>
              <a:defRPr sz="2000">
                <a:solidFill>
                  <a:srgbClr val="141B26"/>
                </a:solidFill>
              </a:defRPr>
            </a:pPr>
            <a:r>
              <a:t>7. Close with limitations and future improvements.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B26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9966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41B26"/>
                </a:solidFill>
              </a:defRPr>
            </a:pPr>
            <a:r>
              <a:t>S.P.E.C.T.R.A demonstrates a complete image-to-3D workflow in one dashboard.</a:t>
            </a:r>
          </a:p>
          <a:p>
            <a:pPr>
              <a:spcAft>
                <a:spcPts val="800"/>
              </a:spcAft>
              <a:defRPr sz="2100">
                <a:solidFill>
                  <a:srgbClr val="141B26"/>
                </a:solidFill>
              </a:defRPr>
            </a:pPr>
            <a:r>
              <a:t>The project produces inspectable point clouds, meshes, and export-ready files.</a:t>
            </a:r>
          </a:p>
          <a:p>
            <a:pPr>
              <a:spcAft>
                <a:spcPts val="800"/>
              </a:spcAft>
              <a:defRPr sz="2100">
                <a:solidFill>
                  <a:srgbClr val="141B26"/>
                </a:solidFill>
              </a:defRPr>
            </a:pPr>
            <a:r>
              <a:t>The best real result reconstructs a recognizable desk arrangement from phone images.</a:t>
            </a:r>
          </a:p>
          <a:p>
            <a:pPr>
              <a:spcAft>
                <a:spcPts val="800"/>
              </a:spcAft>
              <a:defRPr sz="2100">
                <a:solidFill>
                  <a:srgbClr val="141B26"/>
                </a:solidFill>
              </a:defRPr>
            </a:pPr>
            <a:r>
              <a:t>The system is presentation-ready as a prototype, with clear explanations for artifacts and limitations.</a:t>
            </a:r>
          </a:p>
          <a:p>
            <a:pPr>
              <a:spcAft>
                <a:spcPts val="800"/>
              </a:spcAft>
              <a:defRPr sz="2100">
                <a:solidFill>
                  <a:srgbClr val="141B26"/>
                </a:solidFill>
              </a:defRPr>
            </a:pPr>
            <a:r>
              <a:t>Future work: stronger calibration, real scanned car baseline, texture projection, and measured benchmark evaluation.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623560"/>
            <a:ext cx="10058400" cy="685800"/>
          </a:xfrm>
          <a:prstGeom prst="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600">
                <a:solidFill>
                  <a:srgbClr val="141B26"/>
                </a:solidFill>
              </a:defRPr>
            </a:pPr>
            <a:r>
              <a:t>Final Message</a:t>
            </a:r>
          </a:p>
          <a:p>
            <a:pPr>
              <a:defRPr sz="1200">
                <a:solidFill>
                  <a:srgbClr val="5A6371"/>
                </a:solidFill>
              </a:defRPr>
            </a:pPr>
            <a:r>
              <a:t>The project proves the workflow and makes every reconstruction stage visible, explainable, and demonstrable.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