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6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808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70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967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135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928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250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045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095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6174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502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320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988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72606" y="4379535"/>
            <a:ext cx="1176469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rPr dirty="0"/>
              <a:t>Image-Based 3D Reconstruction Dashboard</a:t>
            </a:r>
          </a:p>
        </p:txBody>
      </p:sp>
      <p:pic>
        <p:nvPicPr>
          <p:cNvPr id="1026" name="Picture 2" descr="Image of virtual technology elements with dark background">
            <a:extLst>
              <a:ext uri="{FF2B5EF4-FFF2-40B4-BE49-F238E27FC236}">
                <a16:creationId xmlns:a16="http://schemas.microsoft.com/office/drawing/2014/main" id="{EDBABABB-C5E9-48ED-843D-AE21BF9AC8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3338" y="0"/>
            <a:ext cx="122586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8181975" y="5664934"/>
            <a:ext cx="37886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BD5E1"/>
                </a:solidFill>
              </a:defRPr>
            </a:pPr>
            <a:r>
              <a:rPr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Prepared</a:t>
            </a:r>
            <a:r>
              <a:rPr dirty="0"/>
              <a:t> </a:t>
            </a:r>
            <a:r>
              <a:rPr lang="en-US" sz="20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by Mugwanya Osbert</a:t>
            </a:r>
            <a:endParaRPr sz="20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4BD355-B03D-4A24-941D-4EC78AC5DF28}"/>
              </a:ext>
            </a:extLst>
          </p:cNvPr>
          <p:cNvSpPr txBox="1"/>
          <p:nvPr/>
        </p:nvSpPr>
        <p:spPr>
          <a:xfrm>
            <a:off x="717422" y="4522053"/>
            <a:ext cx="9875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rPr dirty="0"/>
              <a:t>Image-Based 3D Reconstruction Dashboard</a:t>
            </a:r>
          </a:p>
        </p:txBody>
      </p:sp>
      <p:sp>
        <p:nvSpPr>
          <p:cNvPr id="8" name="Text 43">
            <a:extLst>
              <a:ext uri="{FF2B5EF4-FFF2-40B4-BE49-F238E27FC236}">
                <a16:creationId xmlns:a16="http://schemas.microsoft.com/office/drawing/2014/main" id="{FCAB80F6-211C-4DFD-9235-8C8A50680F3B}"/>
              </a:ext>
            </a:extLst>
          </p:cNvPr>
          <p:cNvSpPr/>
          <p:nvPr/>
        </p:nvSpPr>
        <p:spPr>
          <a:xfrm>
            <a:off x="502920" y="119634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Scene Reconstruction from</a:t>
            </a:r>
            <a:endParaRPr lang="en-US" sz="3400" dirty="0"/>
          </a:p>
        </p:txBody>
      </p:sp>
      <p:sp>
        <p:nvSpPr>
          <p:cNvPr id="9" name="Text 44">
            <a:extLst>
              <a:ext uri="{FF2B5EF4-FFF2-40B4-BE49-F238E27FC236}">
                <a16:creationId xmlns:a16="http://schemas.microsoft.com/office/drawing/2014/main" id="{E4E1D03D-6BC4-473F-A5F6-4B60F9E1ED1C}"/>
              </a:ext>
            </a:extLst>
          </p:cNvPr>
          <p:cNvSpPr/>
          <p:nvPr/>
        </p:nvSpPr>
        <p:spPr>
          <a:xfrm>
            <a:off x="1426845" y="2180748"/>
            <a:ext cx="95173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Multi-View Images;        S.P.E.C.T.R.A</a:t>
            </a:r>
            <a:endParaRPr lang="en-US" sz="3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F6024-F27F-433B-884F-4722DDC0A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295BAE-BD86-4333-B86E-6F52E21963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This project focuses on reconstructing a 3D scene from multiple 2D images using computer vision techniques. It combines depth estimation and camera pose estimation to generate a 3D point cloud representation of a real-world environment.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715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1B26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60120"/>
            <a:ext cx="10515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371"/>
                </a:solidFill>
              </a:defRPr>
            </a:pPr>
            <a:r>
              <a:t>Turning ordinary phone images into usable 3D assets is still technically demanding.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4592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41B26"/>
                </a:solidFill>
              </a:defRPr>
            </a:pPr>
            <a:r>
              <a:t>Manual photogrammetry workflows require many separate tools and careful file handling.</a:t>
            </a:r>
          </a:p>
          <a:p>
            <a:pPr>
              <a:spcAft>
                <a:spcPts val="800"/>
              </a:spcAft>
              <a:defRPr sz="1800">
                <a:solidFill>
                  <a:srgbClr val="141B26"/>
                </a:solidFill>
              </a:defRPr>
            </a:pPr>
            <a:r>
              <a:t>Students and prototype teams need a visible end-to-end reconstruction workflow.</a:t>
            </a:r>
          </a:p>
          <a:p>
            <a:pPr>
              <a:spcAft>
                <a:spcPts val="800"/>
              </a:spcAft>
              <a:defRPr sz="1800">
                <a:solidFill>
                  <a:srgbClr val="141B26"/>
                </a:solidFill>
              </a:defRPr>
            </a:pPr>
            <a:r>
              <a:t>Real captures contain blur, weak texture, changing exposure, reflective surfaces, and incomplete overlap.</a:t>
            </a:r>
          </a:p>
          <a:p>
            <a:pPr>
              <a:spcAft>
                <a:spcPts val="800"/>
              </a:spcAft>
              <a:defRPr sz="1800">
                <a:solidFill>
                  <a:srgbClr val="141B26"/>
                </a:solidFill>
              </a:defRPr>
            </a:pPr>
            <a:r>
              <a:t>The project aims to make the reconstruction stages inspectable, explainable, and exportable.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903720" y="1691640"/>
            <a:ext cx="4297680" cy="1828800"/>
          </a:xfrm>
          <a:prstGeom prst="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defRPr sz="1600" b="1">
                <a:solidFill>
                  <a:srgbClr val="141B26"/>
                </a:solidFill>
              </a:defRPr>
            </a:pPr>
            <a:r>
              <a:t>Core Idea</a:t>
            </a:r>
          </a:p>
          <a:p>
            <a:pPr>
              <a:defRPr sz="1200">
                <a:solidFill>
                  <a:srgbClr val="5A6371"/>
                </a:solidFill>
              </a:defRPr>
            </a:pPr>
            <a:r>
              <a:t>A Streamlit dashboard that organizes image ingestion, frame selection, depth estimation, pose recovery, dense fusion, cleanup, meshing, and export.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903720" y="3703320"/>
            <a:ext cx="4297680" cy="1600200"/>
          </a:xfrm>
          <a:prstGeom prst="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defRPr sz="1600" b="1">
                <a:solidFill>
                  <a:srgbClr val="141B26"/>
                </a:solidFill>
              </a:defRPr>
            </a:pPr>
            <a:r>
              <a:t>Presentation Focus</a:t>
            </a:r>
          </a:p>
          <a:p>
            <a:pPr>
              <a:defRPr sz="1200">
                <a:solidFill>
                  <a:srgbClr val="5A6371"/>
                </a:solidFill>
              </a:defRPr>
            </a:pPr>
            <a:r>
              <a:t>Show that the pipeline can reconstruct recognizable real objects and explain where limitations come from.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1B26"/>
                </a:solidFill>
              </a:defRPr>
            </a:pPr>
            <a:r>
              <a:t>Project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08760"/>
            <a:ext cx="3246120" cy="1325880"/>
          </a:xfrm>
          <a:prstGeom prst="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defRPr sz="1600" b="1">
                <a:solidFill>
                  <a:srgbClr val="141B26"/>
                </a:solidFill>
              </a:defRPr>
            </a:pPr>
            <a:r>
              <a:t>Ingest Images</a:t>
            </a:r>
          </a:p>
          <a:p>
            <a:pPr>
              <a:defRPr sz="1200">
                <a:solidFill>
                  <a:srgbClr val="5A6371"/>
                </a:solidFill>
              </a:defRPr>
            </a:pPr>
            <a:r>
              <a:t>Accept real smartphone image sequences and stage them for processing.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4434840" y="1508760"/>
            <a:ext cx="3246120" cy="1325880"/>
          </a:xfrm>
          <a:prstGeom prst="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defRPr sz="1600" b="1">
                <a:solidFill>
                  <a:srgbClr val="141B26"/>
                </a:solidFill>
              </a:defRPr>
            </a:pPr>
            <a:r>
              <a:t>Select Keyframes</a:t>
            </a:r>
          </a:p>
          <a:p>
            <a:pPr>
              <a:defRPr sz="1200">
                <a:solidFill>
                  <a:srgbClr val="5A6371"/>
                </a:solidFill>
              </a:defRPr>
            </a:pPr>
            <a:r>
              <a:t>Keep sharp and diverse frames so reconstruction uses stronger visual evidence.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0" y="1508760"/>
            <a:ext cx="3246120" cy="1325880"/>
          </a:xfrm>
          <a:prstGeom prst="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defRPr sz="1600" b="1">
                <a:solidFill>
                  <a:srgbClr val="141B26"/>
                </a:solidFill>
              </a:defRPr>
            </a:pPr>
            <a:r>
              <a:t>Recover Geometry</a:t>
            </a:r>
          </a:p>
          <a:p>
            <a:pPr>
              <a:defRPr sz="1200">
                <a:solidFill>
                  <a:srgbClr val="5A6371"/>
                </a:solidFill>
              </a:defRPr>
            </a:pPr>
            <a:r>
              <a:t>Estimate depth, camera poses, sparse points, dense clouds, and meshes.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474720"/>
            <a:ext cx="3246120" cy="1325880"/>
          </a:xfrm>
          <a:prstGeom prst="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defRPr sz="1600" b="1">
                <a:solidFill>
                  <a:srgbClr val="141B26"/>
                </a:solidFill>
              </a:defRPr>
            </a:pPr>
            <a:r>
              <a:t>Evaluate Outputs</a:t>
            </a:r>
          </a:p>
          <a:p>
            <a:pPr>
              <a:defRPr sz="1200">
                <a:solidFill>
                  <a:srgbClr val="5A6371"/>
                </a:solidFill>
              </a:defRPr>
            </a:pPr>
            <a:r>
              <a:t>Inspect point clouds, meshes, metrics, and export-ready files.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4840" y="3474720"/>
            <a:ext cx="3246120" cy="1325880"/>
          </a:xfrm>
          <a:prstGeom prst="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defRPr sz="1600" b="1">
                <a:solidFill>
                  <a:srgbClr val="141B26"/>
                </a:solidFill>
              </a:defRPr>
            </a:pPr>
            <a:r>
              <a:t>Support Baselines</a:t>
            </a:r>
          </a:p>
          <a:p>
            <a:pPr>
              <a:defRPr sz="1200">
                <a:solidFill>
                  <a:srgbClr val="5A6371"/>
                </a:solidFill>
              </a:defRPr>
            </a:pPr>
            <a:r>
              <a:t>Use synthetic scenes and research datasets for controlled comparisons.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0" y="3474720"/>
            <a:ext cx="3246120" cy="1325880"/>
          </a:xfrm>
          <a:prstGeom prst="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defRPr sz="1600" b="1">
                <a:solidFill>
                  <a:srgbClr val="141B26"/>
                </a:solidFill>
              </a:defRPr>
            </a:pPr>
            <a:r>
              <a:t>Explain Results</a:t>
            </a:r>
          </a:p>
          <a:p>
            <a:pPr>
              <a:defRPr sz="1200">
                <a:solidFill>
                  <a:srgbClr val="5A6371"/>
                </a:solidFill>
              </a:defRPr>
            </a:pPr>
            <a:r>
              <a:t>Make every stage understandable during demonstration and assessment.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1B26"/>
                </a:solidFill>
              </a:defRPr>
            </a:pPr>
            <a:r>
              <a:t>System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60120"/>
            <a:ext cx="10515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371"/>
                </a:solidFill>
              </a:defRPr>
            </a:pPr>
            <a:r>
              <a:t>Each output in the dashboard corresponds to one stage in this flow.</a:t>
            </a:r>
          </a:p>
        </p:txBody>
      </p:sp>
      <p:pic>
        <p:nvPicPr>
          <p:cNvPr id="4" name="Picture 3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11155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1B26"/>
                </a:solidFill>
              </a:defRPr>
            </a:pPr>
            <a:r>
              <a:t>Implementation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5303520" cy="1234440"/>
          </a:xfrm>
          <a:prstGeom prst="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defRPr sz="1600" b="1">
                <a:solidFill>
                  <a:srgbClr val="141B26"/>
                </a:solidFill>
              </a:defRPr>
            </a:pPr>
            <a:r>
              <a:t>Dashboard</a:t>
            </a:r>
          </a:p>
          <a:p>
            <a:pPr>
              <a:defRPr sz="1200">
                <a:solidFill>
                  <a:srgbClr val="5A6371"/>
                </a:solidFill>
              </a:defRPr>
            </a:pPr>
            <a:r>
              <a:t>Streamlit interface for uploads, live status, previews, output inspection, and synthetic baselines.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834640"/>
            <a:ext cx="5303520" cy="1234440"/>
          </a:xfrm>
          <a:prstGeom prst="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defRPr sz="1600" b="1">
                <a:solidFill>
                  <a:srgbClr val="141B26"/>
                </a:solidFill>
              </a:defRPr>
            </a:pPr>
            <a:r>
              <a:t>Computer Vision</a:t>
            </a:r>
          </a:p>
          <a:p>
            <a:pPr>
              <a:defRPr sz="1200">
                <a:solidFill>
                  <a:srgbClr val="5A6371"/>
                </a:solidFill>
              </a:defRPr>
            </a:pPr>
            <a:r>
              <a:t>OpenCV ORB features, matching, essential matrix pose recovery, sharpness scoring, and image preprocessing.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251960"/>
            <a:ext cx="5303520" cy="1234440"/>
          </a:xfrm>
          <a:prstGeom prst="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defRPr sz="1600" b="1">
                <a:solidFill>
                  <a:srgbClr val="141B26"/>
                </a:solidFill>
              </a:defRPr>
            </a:pPr>
            <a:r>
              <a:t>Depth and 3D</a:t>
            </a:r>
          </a:p>
          <a:p>
            <a:pPr>
              <a:defRPr sz="1200">
                <a:solidFill>
                  <a:srgbClr val="5A6371"/>
                </a:solidFill>
              </a:defRPr>
            </a:pPr>
            <a:r>
              <a:t>Depth Anything V2, NumPy, Open3D point clouds, DBSCAN cleanup, Poisson surface reconstruction.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417320"/>
            <a:ext cx="4663440" cy="1234440"/>
          </a:xfrm>
          <a:prstGeom prst="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defRPr sz="1600" b="1">
                <a:solidFill>
                  <a:srgbClr val="141B26"/>
                </a:solidFill>
              </a:defRPr>
            </a:pPr>
            <a:r>
              <a:t>Exports</a:t>
            </a:r>
          </a:p>
          <a:p>
            <a:pPr>
              <a:defRPr sz="1200">
                <a:solidFill>
                  <a:srgbClr val="5A6371"/>
                </a:solidFill>
              </a:defRPr>
            </a:pPr>
            <a:r>
              <a:t>PLY and OBJ assets for inspection in the dashboard, MeshLab, CloudCompare, Blender, or Gaussian Splatting workflows.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2834640"/>
            <a:ext cx="4663440" cy="1783080"/>
          </a:xfrm>
          <a:prstGeom prst="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defRPr sz="1600" b="1">
                <a:solidFill>
                  <a:srgbClr val="141B26"/>
                </a:solidFill>
              </a:defRPr>
            </a:pPr>
            <a:r>
              <a:t>Recent Improvements</a:t>
            </a:r>
          </a:p>
          <a:p>
            <a:pPr>
              <a:defRPr sz="1200">
                <a:solidFill>
                  <a:srgbClr val="5A6371"/>
                </a:solidFill>
              </a:defRPr>
            </a:pPr>
            <a:r>
              <a:t>Lobby keyframes increased to 60; object fusion made more permissive for thin/planar captures; synthetic car import path added.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1B26"/>
                </a:solidFill>
              </a:defRPr>
            </a:pPr>
            <a:r>
              <a:t>What The Output Types Mean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5074920" cy="987552"/>
          </a:xfrm>
          <a:prstGeom prst="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defRPr sz="1600" b="1">
                <a:solidFill>
                  <a:srgbClr val="141B26"/>
                </a:solidFill>
              </a:defRPr>
            </a:pPr>
            <a:r>
              <a:t>Sparse cloud</a:t>
            </a:r>
          </a:p>
          <a:p>
            <a:pPr>
              <a:defRPr sz="1200">
                <a:solidFill>
                  <a:srgbClr val="5A6371"/>
                </a:solidFill>
              </a:defRPr>
            </a:pPr>
            <a:r>
              <a:t>Feature matches used to estimate camera alignment.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63640" y="1234440"/>
            <a:ext cx="5074920" cy="987552"/>
          </a:xfrm>
          <a:prstGeom prst="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defRPr sz="1600" b="1">
                <a:solidFill>
                  <a:srgbClr val="141B26"/>
                </a:solidFill>
              </a:defRPr>
            </a:pPr>
            <a:r>
              <a:t>Pose-aligned dense cloud</a:t>
            </a:r>
          </a:p>
          <a:p>
            <a:pPr>
              <a:defRPr sz="1200">
                <a:solidFill>
                  <a:srgbClr val="5A6371"/>
                </a:solidFill>
              </a:defRPr>
            </a:pPr>
            <a:r>
              <a:t>Main colored point cloud from depth maps and camera poses.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743200"/>
            <a:ext cx="5074920" cy="987552"/>
          </a:xfrm>
          <a:prstGeom prst="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defRPr sz="1600" b="1">
                <a:solidFill>
                  <a:srgbClr val="141B26"/>
                </a:solidFill>
              </a:defRPr>
            </a:pPr>
            <a:r>
              <a:t>Legacy dense cloud</a:t>
            </a:r>
          </a:p>
          <a:p>
            <a:pPr>
              <a:defRPr sz="1200">
                <a:solidFill>
                  <a:srgbClr val="5A6371"/>
                </a:solidFill>
              </a:defRPr>
            </a:pPr>
            <a:r>
              <a:t>Older/fallback dense output kept for comparison.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63640" y="2743200"/>
            <a:ext cx="5074920" cy="987552"/>
          </a:xfrm>
          <a:prstGeom prst="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defRPr sz="1600" b="1">
                <a:solidFill>
                  <a:srgbClr val="141B26"/>
                </a:solidFill>
              </a:defRPr>
            </a:pPr>
            <a:r>
              <a:t>Cleaned dense cloud</a:t>
            </a:r>
          </a:p>
          <a:p>
            <a:pPr>
              <a:defRPr sz="1200">
                <a:solidFill>
                  <a:srgbClr val="5A6371"/>
                </a:solidFill>
              </a:defRPr>
            </a:pPr>
            <a:r>
              <a:t>Noise-reduced cloud used before meshing.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4251960"/>
            <a:ext cx="5074920" cy="987552"/>
          </a:xfrm>
          <a:prstGeom prst="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defRPr sz="1600" b="1">
                <a:solidFill>
                  <a:srgbClr val="141B26"/>
                </a:solidFill>
              </a:defRPr>
            </a:pPr>
            <a:r>
              <a:t>Poisson mesh</a:t>
            </a:r>
          </a:p>
          <a:p>
            <a:pPr>
              <a:defRPr sz="1200">
                <a:solidFill>
                  <a:srgbClr val="5A6371"/>
                </a:solidFill>
              </a:defRPr>
            </a:pPr>
            <a:r>
              <a:t>Continuous surface generated from the cleaned point cloud.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4251960"/>
            <a:ext cx="5074920" cy="987552"/>
          </a:xfrm>
          <a:prstGeom prst="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defRPr sz="1600" b="1">
                <a:solidFill>
                  <a:srgbClr val="141B26"/>
                </a:solidFill>
              </a:defRPr>
            </a:pPr>
            <a:r>
              <a:t>OBJ mesh</a:t>
            </a:r>
          </a:p>
          <a:p>
            <a:pPr>
              <a:defRPr sz="1200">
                <a:solidFill>
                  <a:srgbClr val="5A6371"/>
                </a:solidFill>
              </a:defRPr>
            </a:pPr>
            <a:r>
              <a:t>Portable mesh format for external 3D software.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1B26"/>
                </a:solidFill>
              </a:defRPr>
            </a:pPr>
            <a:r>
              <a:t>Best Real Reconstruction: Desk Arrangement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60120"/>
            <a:ext cx="10515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371"/>
                </a:solidFill>
              </a:defRPr>
            </a:pPr>
            <a:r>
              <a:t>The strongest current output is recognizable as a physical workstation scene.</a:t>
            </a:r>
          </a:p>
        </p:txBody>
      </p:sp>
      <p:pic>
        <p:nvPicPr>
          <p:cNvPr id="4" name="Picture 3" descr="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5212080" cy="4251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17920" y="150876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41B26"/>
                </a:solidFill>
              </a:defRPr>
            </a:pPr>
            <a:r>
              <a:t>Recognizable elements: desk/table surface, laptop/screens, cups, and surrounding objects.</a:t>
            </a:r>
          </a:p>
          <a:p>
            <a:pPr>
              <a:spcAft>
                <a:spcPts val="800"/>
              </a:spcAft>
              <a:defRPr sz="1700">
                <a:solidFill>
                  <a:srgbClr val="141B26"/>
                </a:solidFill>
              </a:defRPr>
            </a:pPr>
            <a:r>
              <a:t>Point cloud and mesh outputs show that the pipeline is reconstructing real object geometry.</a:t>
            </a:r>
          </a:p>
          <a:p>
            <a:pPr>
              <a:spcAft>
                <a:spcPts val="800"/>
              </a:spcAft>
              <a:defRPr sz="1700">
                <a:solidFill>
                  <a:srgbClr val="141B26"/>
                </a:solidFill>
              </a:defRPr>
            </a:pPr>
            <a:r>
              <a:t>Remaining gaps and stretched areas are expected from monocular depth, reflective surfaces, and pose noise.</a:t>
            </a:r>
          </a:p>
          <a:p>
            <a:pPr>
              <a:spcAft>
                <a:spcPts val="800"/>
              </a:spcAft>
              <a:defRPr sz="1700">
                <a:solidFill>
                  <a:srgbClr val="141B26"/>
                </a:solidFill>
              </a:defRPr>
            </a:pPr>
            <a:r>
              <a:t>This is the best demonstration artifact for the live presentation.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1B26"/>
                </a:solidFill>
              </a:defRPr>
            </a:pPr>
            <a:r>
              <a:t>Synthetic Baselines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60120"/>
            <a:ext cx="10515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371"/>
                </a:solidFill>
              </a:defRPr>
            </a:pPr>
            <a:r>
              <a:t>Synthetic scenes help explain controlled geometry versus real capture uncertainty.</a:t>
            </a:r>
          </a:p>
        </p:txBody>
      </p:sp>
      <p:pic>
        <p:nvPicPr>
          <p:cNvPr id="4" name="Picture 3" descr="indoor_room_dense_saturated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80160"/>
            <a:ext cx="5166360" cy="4023360"/>
          </a:xfrm>
          <a:prstGeom prst="rect">
            <a:avLst/>
          </a:prstGeom>
        </p:spPr>
      </p:pic>
      <p:pic>
        <p:nvPicPr>
          <p:cNvPr id="5" name="Picture 4" descr="car_scene_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280160"/>
            <a:ext cx="516636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00990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1B26"/>
                </a:solidFill>
              </a:defRPr>
            </a:pPr>
            <a:r>
              <a:t>3DRealCar Dataset Integration</a:t>
            </a:r>
          </a:p>
        </p:txBody>
      </p:sp>
      <p:pic>
        <p:nvPicPr>
          <p:cNvPr id="4" name="Picture 3" descr="3drealcar_segmentation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81100"/>
            <a:ext cx="11384280" cy="52197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1B26"/>
                </a:solidFill>
              </a:defRPr>
            </a:pPr>
            <a:r>
              <a:t>Limitations And 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6583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41B26"/>
                </a:solidFill>
              </a:defRPr>
            </a:pPr>
            <a:r>
              <a:t>Textureless walls, glossy screens, shadows, and repeated patterns can reduce pose accuracy.</a:t>
            </a:r>
          </a:p>
          <a:p>
            <a:pPr>
              <a:spcAft>
                <a:spcPts val="800"/>
              </a:spcAft>
              <a:defRPr sz="1800">
                <a:solidFill>
                  <a:srgbClr val="141B26"/>
                </a:solidFill>
              </a:defRPr>
            </a:pPr>
            <a:r>
              <a:t>Monocular depth provides relative depth, so scale and alignment can drift.</a:t>
            </a:r>
          </a:p>
          <a:p>
            <a:pPr>
              <a:spcAft>
                <a:spcPts val="800"/>
              </a:spcAft>
              <a:defRPr sz="1800">
                <a:solidFill>
                  <a:srgbClr val="141B26"/>
                </a:solidFill>
              </a:defRPr>
            </a:pPr>
            <a:r>
              <a:t>Thin planar objects may need permissive fusion settings to avoid over-filtering.</a:t>
            </a:r>
          </a:p>
          <a:p>
            <a:pPr>
              <a:spcAft>
                <a:spcPts val="800"/>
              </a:spcAft>
              <a:defRPr sz="1800">
                <a:solidFill>
                  <a:srgbClr val="141B26"/>
                </a:solidFill>
              </a:defRPr>
            </a:pPr>
            <a:r>
              <a:t>Poisson meshing can fill gaps or stretch surfaces where the point cloud is incomplete.</a:t>
            </a:r>
          </a:p>
          <a:p>
            <a:pPr>
              <a:spcAft>
                <a:spcPts val="800"/>
              </a:spcAft>
              <a:defRPr sz="1800">
                <a:solidFill>
                  <a:srgbClr val="141B26"/>
                </a:solidFill>
              </a:defRPr>
            </a:pPr>
            <a:r>
              <a:t>Synthetic colors are generated/material colors unless they come from a real scan or texture dataset.</a:t>
            </a:r>
          </a:p>
        </p:txBody>
      </p:sp>
      <p:sp>
        <p:nvSpPr>
          <p:cNvPr id="4" name="Rectangle 3"/>
          <p:cNvSpPr/>
          <p:nvPr/>
        </p:nvSpPr>
        <p:spPr>
          <a:xfrm>
            <a:off x="7726679" y="1828800"/>
            <a:ext cx="3566160" cy="2286000"/>
          </a:xfrm>
          <a:prstGeom prst="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defRPr sz="1600" b="1">
                <a:solidFill>
                  <a:srgbClr val="141B26"/>
                </a:solidFill>
              </a:defRPr>
            </a:pPr>
            <a:r>
              <a:t>How We Addressed This</a:t>
            </a:r>
          </a:p>
          <a:p>
            <a:pPr>
              <a:defRPr sz="1200">
                <a:solidFill>
                  <a:srgbClr val="5A6371"/>
                </a:solidFill>
              </a:defRPr>
            </a:pPr>
            <a:r>
              <a:t>Increased keyframes for room captures, loosened object fusion, preserved thin structures, and added a dataset-backed car import path.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1B26"/>
                </a:solidFill>
              </a:defRPr>
            </a:pPr>
            <a:r>
              <a:t>Evaluation 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71600"/>
            <a:ext cx="3246120" cy="1234440"/>
          </a:xfrm>
          <a:prstGeom prst="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defRPr sz="1600" b="1">
                <a:solidFill>
                  <a:srgbClr val="141B26"/>
                </a:solidFill>
              </a:defRPr>
            </a:pPr>
            <a:r>
              <a:t>Visual Quality</a:t>
            </a:r>
          </a:p>
          <a:p>
            <a:pPr>
              <a:defRPr sz="1200">
                <a:solidFill>
                  <a:srgbClr val="5A6371"/>
                </a:solidFill>
              </a:defRPr>
            </a:pPr>
            <a:r>
              <a:t>Can the viewer recognize the object/scene arrangement?</a:t>
            </a:r>
          </a:p>
        </p:txBody>
      </p:sp>
      <p:sp>
        <p:nvSpPr>
          <p:cNvPr id="4" name="Rectangle 3"/>
          <p:cNvSpPr/>
          <p:nvPr/>
        </p:nvSpPr>
        <p:spPr>
          <a:xfrm>
            <a:off x="4480560" y="1371600"/>
            <a:ext cx="3246120" cy="1234440"/>
          </a:xfrm>
          <a:prstGeom prst="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defRPr sz="1600" b="1">
                <a:solidFill>
                  <a:srgbClr val="141B26"/>
                </a:solidFill>
              </a:defRPr>
            </a:pPr>
            <a:r>
              <a:t>Point Count</a:t>
            </a:r>
          </a:p>
          <a:p>
            <a:pPr>
              <a:defRPr sz="1200">
                <a:solidFill>
                  <a:srgbClr val="5A6371"/>
                </a:solidFill>
              </a:defRPr>
            </a:pPr>
            <a:r>
              <a:t>Are enough points produced after fusion and cleanup?</a:t>
            </a:r>
          </a:p>
        </p:txBody>
      </p:sp>
      <p:sp>
        <p:nvSpPr>
          <p:cNvPr id="5" name="Rectangle 4"/>
          <p:cNvSpPr/>
          <p:nvPr/>
        </p:nvSpPr>
        <p:spPr>
          <a:xfrm>
            <a:off x="8275320" y="1371600"/>
            <a:ext cx="3246120" cy="1234440"/>
          </a:xfrm>
          <a:prstGeom prst="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defRPr sz="1600" b="1">
                <a:solidFill>
                  <a:srgbClr val="141B26"/>
                </a:solidFill>
              </a:defRPr>
            </a:pPr>
            <a:r>
              <a:t>Stage Completion</a:t>
            </a:r>
          </a:p>
          <a:p>
            <a:pPr>
              <a:defRPr sz="1200">
                <a:solidFill>
                  <a:srgbClr val="5A6371"/>
                </a:solidFill>
              </a:defRPr>
            </a:pPr>
            <a:r>
              <a:t>Did depth, SfM, fusion, cleanup, mesh, and export stages complete?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3291840"/>
            <a:ext cx="3246120" cy="1234440"/>
          </a:xfrm>
          <a:prstGeom prst="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defRPr sz="1600" b="1">
                <a:solidFill>
                  <a:srgbClr val="141B26"/>
                </a:solidFill>
              </a:defRPr>
            </a:pPr>
            <a:r>
              <a:t>Export Readiness</a:t>
            </a:r>
          </a:p>
          <a:p>
            <a:pPr>
              <a:defRPr sz="1200">
                <a:solidFill>
                  <a:srgbClr val="5A6371"/>
                </a:solidFill>
              </a:defRPr>
            </a:pPr>
            <a:r>
              <a:t>Can PLY/OBJ outputs be opened in external 3D tools?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60" y="3291840"/>
            <a:ext cx="3246120" cy="1234440"/>
          </a:xfrm>
          <a:prstGeom prst="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defRPr sz="1600" b="1">
                <a:solidFill>
                  <a:srgbClr val="141B26"/>
                </a:solidFill>
              </a:defRPr>
            </a:pPr>
            <a:r>
              <a:t>Failure Analysis</a:t>
            </a:r>
          </a:p>
          <a:p>
            <a:pPr>
              <a:defRPr sz="1200">
                <a:solidFill>
                  <a:srgbClr val="5A6371"/>
                </a:solidFill>
              </a:defRPr>
            </a:pPr>
            <a:r>
              <a:t>Do artifacts align with known capture or algorithm limitations?</a:t>
            </a:r>
          </a:p>
        </p:txBody>
      </p:sp>
      <p:sp>
        <p:nvSpPr>
          <p:cNvPr id="8" name="Rectangle 7"/>
          <p:cNvSpPr/>
          <p:nvPr/>
        </p:nvSpPr>
        <p:spPr>
          <a:xfrm>
            <a:off x="8275320" y="3291840"/>
            <a:ext cx="3246120" cy="1234440"/>
          </a:xfrm>
          <a:prstGeom prst="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defRPr sz="1600" b="1">
                <a:solidFill>
                  <a:srgbClr val="141B26"/>
                </a:solidFill>
              </a:defRPr>
            </a:pPr>
            <a:r>
              <a:t>Baseline Comparison</a:t>
            </a:r>
          </a:p>
          <a:p>
            <a:pPr>
              <a:defRPr sz="1200">
                <a:solidFill>
                  <a:srgbClr val="5A6371"/>
                </a:solidFill>
              </a:defRPr>
            </a:pPr>
            <a:r>
              <a:t>Compare real reconstructions with synthetic controlled scenes.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1B26"/>
                </a:solidFill>
              </a:defRPr>
            </a:pPr>
            <a:r>
              <a:t>Live Demo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34440"/>
            <a:ext cx="10058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41B26"/>
                </a:solidFill>
              </a:defRPr>
            </a:pPr>
            <a:r>
              <a:t>1. Open dashboard and show dataset ingestion.</a:t>
            </a:r>
          </a:p>
          <a:p>
            <a:pPr>
              <a:spcAft>
                <a:spcPts val="800"/>
              </a:spcAft>
              <a:defRPr sz="2000">
                <a:solidFill>
                  <a:srgbClr val="141B26"/>
                </a:solidFill>
              </a:defRPr>
            </a:pPr>
            <a:r>
              <a:t>2. Show raw image inventory and preview dropdown.</a:t>
            </a:r>
          </a:p>
          <a:p>
            <a:pPr>
              <a:spcAft>
                <a:spcPts val="800"/>
              </a:spcAft>
              <a:defRPr sz="2000">
                <a:solidFill>
                  <a:srgbClr val="141B26"/>
                </a:solidFill>
              </a:defRPr>
            </a:pPr>
            <a:r>
              <a:t>3. Show keyframe selection and depth preview outputs.</a:t>
            </a:r>
          </a:p>
          <a:p>
            <a:pPr>
              <a:spcAft>
                <a:spcPts val="800"/>
              </a:spcAft>
              <a:defRPr sz="2000">
                <a:solidFill>
                  <a:srgbClr val="141B26"/>
                </a:solidFill>
              </a:defRPr>
            </a:pPr>
            <a:r>
              <a:t>4. Open 3D viewer and compare sparse cloud, dense cloud, cleaned cloud, and mesh.</a:t>
            </a:r>
          </a:p>
          <a:p>
            <a:pPr>
              <a:spcAft>
                <a:spcPts val="800"/>
              </a:spcAft>
              <a:defRPr sz="2000">
                <a:solidFill>
                  <a:srgbClr val="141B26"/>
                </a:solidFill>
              </a:defRPr>
            </a:pPr>
            <a:r>
              <a:t>5. Explain the desk reconstruction as the best real output.</a:t>
            </a:r>
          </a:p>
          <a:p>
            <a:pPr>
              <a:spcAft>
                <a:spcPts val="800"/>
              </a:spcAft>
              <a:defRPr sz="2000">
                <a:solidFill>
                  <a:srgbClr val="141B26"/>
                </a:solidFill>
              </a:defRPr>
            </a:pPr>
            <a:r>
              <a:t>6. Open synthetic baselines and mention 3DRealCar integration path.</a:t>
            </a:r>
          </a:p>
          <a:p>
            <a:pPr>
              <a:spcAft>
                <a:spcPts val="800"/>
              </a:spcAft>
              <a:defRPr sz="2000">
                <a:solidFill>
                  <a:srgbClr val="141B26"/>
                </a:solidFill>
              </a:defRPr>
            </a:pPr>
            <a:r>
              <a:t>7. Close with limitations and future improvements.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1B26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25880"/>
            <a:ext cx="9966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141B26"/>
                </a:solidFill>
              </a:defRPr>
            </a:pPr>
            <a:r>
              <a:t>S.P.E.C.T.R.A demonstrates a complete image-to-3D workflow in one dashboard.</a:t>
            </a:r>
          </a:p>
          <a:p>
            <a:pPr>
              <a:spcAft>
                <a:spcPts val="800"/>
              </a:spcAft>
              <a:defRPr sz="2100">
                <a:solidFill>
                  <a:srgbClr val="141B26"/>
                </a:solidFill>
              </a:defRPr>
            </a:pPr>
            <a:r>
              <a:t>The project produces inspectable point clouds, meshes, and export-ready files.</a:t>
            </a:r>
          </a:p>
          <a:p>
            <a:pPr>
              <a:spcAft>
                <a:spcPts val="800"/>
              </a:spcAft>
              <a:defRPr sz="2100">
                <a:solidFill>
                  <a:srgbClr val="141B26"/>
                </a:solidFill>
              </a:defRPr>
            </a:pPr>
            <a:r>
              <a:t>The best real result reconstructs a recognizable desk arrangement from phone images.</a:t>
            </a:r>
          </a:p>
          <a:p>
            <a:pPr>
              <a:spcAft>
                <a:spcPts val="800"/>
              </a:spcAft>
              <a:defRPr sz="2100">
                <a:solidFill>
                  <a:srgbClr val="141B26"/>
                </a:solidFill>
              </a:defRPr>
            </a:pPr>
            <a:r>
              <a:t>The system is presentation-ready as a prototype, with clear explanations for artifacts and limitations.</a:t>
            </a:r>
          </a:p>
          <a:p>
            <a:pPr>
              <a:spcAft>
                <a:spcPts val="800"/>
              </a:spcAft>
              <a:defRPr sz="2100">
                <a:solidFill>
                  <a:srgbClr val="141B26"/>
                </a:solidFill>
              </a:defRPr>
            </a:pPr>
            <a:r>
              <a:t>Future work: stronger calibration, real scanned car baseline, texture projection, and measured benchmark evaluation.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623560"/>
            <a:ext cx="10058400" cy="685800"/>
          </a:xfrm>
          <a:prstGeom prst="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defRPr sz="1600" b="1">
                <a:solidFill>
                  <a:srgbClr val="141B26"/>
                </a:solidFill>
              </a:defRPr>
            </a:pPr>
            <a:r>
              <a:t>Final Message</a:t>
            </a:r>
          </a:p>
          <a:p>
            <a:pPr>
              <a:defRPr sz="1200">
                <a:solidFill>
                  <a:srgbClr val="5A6371"/>
                </a:solidFill>
              </a:defRPr>
            </a:pPr>
            <a:r>
              <a:t>The project proves the workflow and makes every reconstruction stage visible, explainable, and demonstrable.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30</TotalTime>
  <Words>928</Words>
  <Application>Microsoft Office PowerPoint</Application>
  <PresentationFormat>Widescreen</PresentationFormat>
  <Paragraphs>102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Metropolitan</vt:lpstr>
      <vt:lpstr>PowerPoint Presentation</vt:lpstr>
      <vt:lpstr>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mugwanya osbert</cp:lastModifiedBy>
  <cp:revision>4</cp:revision>
  <dcterms:created xsi:type="dcterms:W3CDTF">2013-01-27T09:14:16Z</dcterms:created>
  <dcterms:modified xsi:type="dcterms:W3CDTF">2026-06-17T05:13:53Z</dcterms:modified>
  <cp:category/>
</cp:coreProperties>
</file>